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863840" cy="6858000"/>
          </a:xfrm>
          <a:prstGeom prst="rect">
            <a:avLst/>
          </a:prstGeom>
          <a:solidFill>
            <a:srgbClr val="675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4D9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MediGuide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AI-Powered Health Guidance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63093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A modern two-step Streamlit web application</a:t>
            </a:r>
            <a:br/>
            <a:r>
              <a:t>for collecting health information and generating</a:t>
            </a:r>
            <a:br/>
            <a:r>
              <a:t>clear, educational AI guidance.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578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🔒 Secure  •  🩺 Simple  •  ✨ AI-Powered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960120"/>
            <a:ext cx="3108960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371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900" b="0">
                <a:solidFill>
                  <a:srgbClr val="6757F5"/>
                </a:solidFill>
                <a:latin typeface="Aptos"/>
              </a:rPr>
              <a:t>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05740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24263A"/>
                </a:solidFill>
                <a:latin typeface="Aptos"/>
              </a:rPr>
              <a:t>MediGuide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7432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757F5"/>
                </a:solidFill>
                <a:latin typeface="Aptos"/>
              </a:rP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30632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24263A"/>
                </a:solidFill>
                <a:latin typeface="Aptos"/>
              </a:rPr>
              <a:t>Connect your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3749039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D9DF8"/>
                </a:solidFill>
                <a:latin typeface="Aptos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4069080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24263A"/>
                </a:solidFill>
                <a:latin typeface="Aptos"/>
              </a:rPr>
              <a:t>Tell us how you're feeling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480060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96C82"/>
                </a:solidFill>
                <a:latin typeface="Aptos"/>
              </a:rPr>
              <a:t>Educational guidance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6757F5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10896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24263A"/>
                </a:solidFill>
                <a:latin typeface="Aptos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95528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96C82"/>
                </a:solidFill>
                <a:latin typeface="Aptos"/>
              </a:rPr>
              <a:t>What MediGuide AI is designed to 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6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1618488"/>
            <a:ext cx="64008" cy="1472184"/>
          </a:xfrm>
          <a:prstGeom prst="roundRect">
            <a:avLst/>
          </a:prstGeom>
          <a:solidFill>
            <a:srgbClr val="675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0020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50" b="1">
                <a:solidFill>
                  <a:srgbClr val="24263A"/>
                </a:solidFill>
                <a:latin typeface="Aptos"/>
              </a:rPr>
              <a:t>🎯 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29968"/>
            <a:ext cx="2880360" cy="1097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C82"/>
                </a:solidFill>
                <a:latin typeface="Aptos"/>
              </a:rPr>
              <a:t>Provide a simple interface where users submit symptoms and health details, then receive AI-generated educational guidance.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6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53712" y="1618488"/>
            <a:ext cx="64008" cy="1472184"/>
          </a:xfrm>
          <a:prstGeom prst="roundRect">
            <a:avLst/>
          </a:prstGeom>
          <a:solidFill>
            <a:srgbClr val="675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60020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50" b="1">
                <a:solidFill>
                  <a:srgbClr val="24263A"/>
                </a:solidFill>
                <a:latin typeface="Aptos"/>
              </a:rPr>
              <a:t>🧩 Core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029968"/>
            <a:ext cx="2880360" cy="1097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C82"/>
                </a:solidFill>
                <a:latin typeface="Aptos"/>
              </a:rPr>
              <a:t>The experience is separated into two pages: API connection first, health information second.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6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11312" y="1618488"/>
            <a:ext cx="64008" cy="1472184"/>
          </a:xfrm>
          <a:prstGeom prst="roundRect">
            <a:avLst/>
          </a:prstGeom>
          <a:solidFill>
            <a:srgbClr val="675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60020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50" b="1">
                <a:solidFill>
                  <a:srgbClr val="24263A"/>
                </a:solidFill>
                <a:latin typeface="Aptos"/>
              </a:rPr>
              <a:t>✨ User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029968"/>
            <a:ext cx="2880360" cy="1097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C82"/>
                </a:solidFill>
                <a:latin typeface="Aptos"/>
              </a:rPr>
              <a:t>Clean cards, clear hierarchy, step indicators, privacy messaging and focused calls-to-action.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379476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6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24912" y="3995928"/>
            <a:ext cx="64008" cy="1243584"/>
          </a:xfrm>
          <a:prstGeom prst="roundRect">
            <a:avLst/>
          </a:prstGeom>
          <a:solidFill>
            <a:srgbClr val="4D9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79" y="397764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50" b="1">
                <a:solidFill>
                  <a:srgbClr val="24263A"/>
                </a:solidFill>
                <a:latin typeface="Aptos"/>
              </a:rPr>
              <a:t>🤖 AI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79" y="4407408"/>
            <a:ext cx="28803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C82"/>
                </a:solidFill>
                <a:latin typeface="Aptos"/>
              </a:rPr>
              <a:t>Uses the OpenAI API to turn submitted information into a structured educational response.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794760"/>
            <a:ext cx="33832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6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82512" y="3995928"/>
            <a:ext cx="64008" cy="1243584"/>
          </a:xfrm>
          <a:prstGeom prst="roundRect">
            <a:avLst/>
          </a:prstGeom>
          <a:solidFill>
            <a:srgbClr val="2B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97764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50" b="1">
                <a:solidFill>
                  <a:srgbClr val="24263A"/>
                </a:solidFill>
                <a:latin typeface="Aptos"/>
              </a:rPr>
              <a:t>🛡️ Safety Positioning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407408"/>
            <a:ext cx="28803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C82"/>
                </a:solidFill>
                <a:latin typeface="Aptos"/>
              </a:rPr>
              <a:t>The interface states that the output is educational and not a medical diagnosis.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96C82"/>
                </a:solidFill>
                <a:latin typeface="Aptos"/>
              </a:rPr>
              <a:t>MediGuide AI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6757F5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10896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24263A"/>
                </a:solidFill>
                <a:latin typeface="Aptos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95528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96C82"/>
                </a:solidFill>
                <a:latin typeface="Aptos"/>
              </a:rPr>
              <a:t>Main technologies used in the prototype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971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6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1618488"/>
            <a:ext cx="64008" cy="1197864"/>
          </a:xfrm>
          <a:prstGeom prst="roundRect">
            <a:avLst/>
          </a:prstGeom>
          <a:solidFill>
            <a:srgbClr val="675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002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50" b="1">
                <a:solidFill>
                  <a:srgbClr val="24263A"/>
                </a:solidFill>
                <a:latin typeface="Aptos"/>
              </a:rPr>
              <a:t>Streamlit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29968"/>
            <a:ext cx="2468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C82"/>
                </a:solidFill>
                <a:latin typeface="Aptos"/>
              </a:rPr>
              <a:t>Web UI and application framework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417320"/>
            <a:ext cx="2971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6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5112" y="1618488"/>
            <a:ext cx="64008" cy="1197864"/>
          </a:xfrm>
          <a:prstGeom prst="roundRect">
            <a:avLst/>
          </a:prstGeom>
          <a:solidFill>
            <a:srgbClr val="675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6002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50" b="1">
                <a:solidFill>
                  <a:srgbClr val="24263A"/>
                </a:solidFill>
                <a:latin typeface="Aptos"/>
              </a:rPr>
              <a:t>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029968"/>
            <a:ext cx="2468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C82"/>
                </a:solidFill>
                <a:latin typeface="Aptos"/>
              </a:rPr>
              <a:t>Application logic and API 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417320"/>
            <a:ext cx="2971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6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54112" y="1618488"/>
            <a:ext cx="64008" cy="1197864"/>
          </a:xfrm>
          <a:prstGeom prst="roundRect">
            <a:avLst/>
          </a:prstGeom>
          <a:solidFill>
            <a:srgbClr val="4D9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6002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50" b="1">
                <a:solidFill>
                  <a:srgbClr val="24263A"/>
                </a:solidFill>
                <a:latin typeface="Aptos"/>
              </a:rPr>
              <a:t>OpenAI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2029968"/>
            <a:ext cx="2468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C82"/>
                </a:solidFill>
                <a:latin typeface="Aptos"/>
              </a:rPr>
              <a:t>AI-generated health guidance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03320"/>
            <a:ext cx="2971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6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6112" y="3904487"/>
            <a:ext cx="64008" cy="1197864"/>
          </a:xfrm>
          <a:prstGeom prst="roundRect">
            <a:avLst/>
          </a:prstGeom>
          <a:solidFill>
            <a:srgbClr val="675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8862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50" b="1">
                <a:solidFill>
                  <a:srgbClr val="24263A"/>
                </a:solidFill>
                <a:latin typeface="Aptos"/>
              </a:rPr>
              <a:t>HTML/CSS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315968"/>
            <a:ext cx="2468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C82"/>
                </a:solidFill>
                <a:latin typeface="Aptos"/>
              </a:rPr>
              <a:t>Custom visual styling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703320"/>
            <a:ext cx="2971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6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25112" y="3904487"/>
            <a:ext cx="64008" cy="1197864"/>
          </a:xfrm>
          <a:prstGeom prst="roundRect">
            <a:avLst/>
          </a:prstGeom>
          <a:solidFill>
            <a:srgbClr val="675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8862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50" b="1">
                <a:solidFill>
                  <a:srgbClr val="24263A"/>
                </a:solidFill>
                <a:latin typeface="Aptos"/>
              </a:rPr>
              <a:t>Session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315968"/>
            <a:ext cx="2468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C82"/>
                </a:solidFill>
                <a:latin typeface="Aptos"/>
              </a:rPr>
              <a:t>Keeps session data during the visit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3703320"/>
            <a:ext cx="29718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6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54112" y="3904487"/>
            <a:ext cx="64008" cy="1197864"/>
          </a:xfrm>
          <a:prstGeom prst="roundRect">
            <a:avLst/>
          </a:prstGeom>
          <a:solidFill>
            <a:srgbClr val="675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0" y="38862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50" b="1">
                <a:solidFill>
                  <a:srgbClr val="24263A"/>
                </a:solidFill>
                <a:latin typeface="Aptos"/>
              </a:rPr>
              <a:t>GitHub + Streamlit Cloud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4315968"/>
            <a:ext cx="2468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C82"/>
                </a:solidFill>
                <a:latin typeface="Aptos"/>
              </a:rPr>
              <a:t>Source control and live deployment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96C82"/>
                </a:solidFill>
                <a:latin typeface="Aptos"/>
              </a:rPr>
              <a:t>MediGuide AI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6757F5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10896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24263A"/>
                </a:solidFill>
                <a:latin typeface="Aptos"/>
              </a:rPr>
              <a:t>Step 1 — API Connection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95528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96C82"/>
                </a:solidFill>
                <a:latin typeface="Aptos"/>
              </a:rPr>
              <a:t>The first page is dedicated to connecting the user's OpenAI account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6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1618488"/>
            <a:ext cx="64008" cy="3118104"/>
          </a:xfrm>
          <a:prstGeom prst="roundRect">
            <a:avLst/>
          </a:prstGeom>
          <a:solidFill>
            <a:srgbClr val="675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00200"/>
            <a:ext cx="4709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50" b="1">
                <a:solidFill>
                  <a:srgbClr val="24263A"/>
                </a:solidFill>
                <a:latin typeface="Aptos"/>
              </a:rPr>
              <a:t>🔑 API Key Screen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29968"/>
            <a:ext cx="47091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C82"/>
                </a:solidFill>
                <a:latin typeface="Aptos"/>
              </a:rPr>
              <a:t>• Password-style API key input</a:t>
            </a:r>
            <a:br/>
            <a:r>
              <a:t>• Placeholder: sk-...</a:t>
            </a:r>
            <a:br/>
            <a:r>
              <a:t>• Session-only privacy message</a:t>
            </a:r>
            <a:br/>
            <a:r>
              <a:t>• Validation before continuing</a:t>
            </a:r>
            <a:br/>
            <a:r>
              <a:t>• Primary CTA to continue</a:t>
            </a:r>
            <a:br/>
            <a:br/>
            <a:r>
              <a:t>The user cannot proceed without providing a key.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17320"/>
            <a:ext cx="498348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6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1737360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24263A"/>
                </a:solidFill>
                <a:latin typeface="Aptos"/>
              </a:rPr>
              <a:t>Connect your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148840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96C82"/>
                </a:solidFill>
                <a:latin typeface="Aptos"/>
              </a:rPr>
              <a:t>Enter your OpenAI API key to continue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697480"/>
            <a:ext cx="4160520" cy="502920"/>
          </a:xfrm>
          <a:prstGeom prst="roundRect">
            <a:avLst/>
          </a:prstGeom>
          <a:solidFill>
            <a:srgbClr val="F7F8FC"/>
          </a:solidFill>
          <a:ln>
            <a:solidFill>
              <a:srgbClr val="E6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2816352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96C82"/>
                </a:solidFill>
                <a:latin typeface="Aptos"/>
              </a:rPr>
              <a:t>sk-••••••••••••••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3703320"/>
            <a:ext cx="4160520" cy="566928"/>
          </a:xfrm>
          <a:prstGeom prst="roundRect">
            <a:avLst/>
          </a:prstGeom>
          <a:solidFill>
            <a:srgbClr val="675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385876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Continue to health information  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448056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96C82"/>
                </a:solidFill>
                <a:latin typeface="Aptos"/>
              </a:rPr>
              <a:t>🛡️ Your key is used for this session only.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96C82"/>
                </a:solidFill>
                <a:latin typeface="Aptos"/>
              </a:rPr>
              <a:t>MediGuide AI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6757F5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10896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24263A"/>
                </a:solidFill>
                <a:latin typeface="Aptos"/>
              </a:rPr>
              <a:t>Step 2 — Health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95528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96C82"/>
                </a:solidFill>
                <a:latin typeface="Aptos"/>
              </a:rPr>
              <a:t>A structured form collects the information needed for the AI response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6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1618488"/>
            <a:ext cx="64008" cy="1289304"/>
          </a:xfrm>
          <a:prstGeom prst="roundRect">
            <a:avLst/>
          </a:prstGeom>
          <a:solidFill>
            <a:srgbClr val="675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0020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50" b="1">
                <a:solidFill>
                  <a:srgbClr val="24263A"/>
                </a:solidFill>
                <a:latin typeface="Aptos"/>
              </a:rPr>
              <a:t>👤 Basic 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29968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C82"/>
                </a:solidFill>
                <a:latin typeface="Aptos"/>
              </a:rPr>
              <a:t>Age • Gender • Symptom duration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6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1618488"/>
            <a:ext cx="64008" cy="1289304"/>
          </a:xfrm>
          <a:prstGeom prst="roundRect">
            <a:avLst/>
          </a:prstGeom>
          <a:solidFill>
            <a:srgbClr val="675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0020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50" b="1">
                <a:solidFill>
                  <a:srgbClr val="24263A"/>
                </a:solidFill>
                <a:latin typeface="Aptos"/>
              </a:rPr>
              <a:t>❤️ Health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029968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C82"/>
                </a:solidFill>
                <a:latin typeface="Aptos"/>
              </a:rPr>
              <a:t>Severity • Existing conditions • Medications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0332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6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6112" y="3904487"/>
            <a:ext cx="64008" cy="1289304"/>
          </a:xfrm>
          <a:prstGeom prst="roundRect">
            <a:avLst/>
          </a:prstGeom>
          <a:solidFill>
            <a:srgbClr val="675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88620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50" b="1">
                <a:solidFill>
                  <a:srgbClr val="24263A"/>
                </a:solidFill>
                <a:latin typeface="Aptos"/>
              </a:rPr>
              <a:t>🩹 Symptoms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15968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C82"/>
                </a:solidFill>
                <a:latin typeface="Aptos"/>
              </a:rPr>
              <a:t>Common symptoms • Other symptoms • Notes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70332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6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3904487"/>
            <a:ext cx="64008" cy="1289304"/>
          </a:xfrm>
          <a:prstGeom prst="roundRect">
            <a:avLst/>
          </a:prstGeom>
          <a:solidFill>
            <a:srgbClr val="4D9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88620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50" b="1">
                <a:solidFill>
                  <a:srgbClr val="24263A"/>
                </a:solidFill>
                <a:latin typeface="Aptos"/>
              </a:rPr>
              <a:t>⚙️ AI Preferences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315968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C82"/>
                </a:solidFill>
                <a:latin typeface="Aptos"/>
              </a:rPr>
              <a:t>Model • Creativity/temperature • Answer language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96C82"/>
                </a:solidFill>
                <a:latin typeface="Aptos"/>
              </a:rPr>
              <a:t>MediGuide AI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6757F5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10896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24263A"/>
                </a:solidFill>
                <a:latin typeface="Aptos"/>
              </a:rPr>
              <a:t>AI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95528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96C82"/>
                </a:solidFill>
                <a:latin typeface="Aptos"/>
              </a:rPr>
              <a:t>How submitted information becomes a response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828800"/>
            <a:ext cx="777240" cy="777240"/>
          </a:xfrm>
          <a:prstGeom prst="ellipse">
            <a:avLst/>
          </a:prstGeom>
          <a:solidFill>
            <a:srgbClr val="675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29968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80360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24263A"/>
                </a:solidFill>
                <a:latin typeface="Aptos"/>
              </a:rPr>
              <a:t>Collect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39" y="3337560"/>
            <a:ext cx="1965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96C82"/>
                </a:solidFill>
                <a:latin typeface="Aptos"/>
              </a:rPr>
              <a:t>Form data is validated.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2176272"/>
            <a:ext cx="2011680" cy="54864"/>
          </a:xfrm>
          <a:prstGeom prst="rect">
            <a:avLst/>
          </a:prstGeom>
          <a:solidFill>
            <a:srgbClr val="E6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11880" y="1828800"/>
            <a:ext cx="777240" cy="777240"/>
          </a:xfrm>
          <a:prstGeom prst="ellipse">
            <a:avLst/>
          </a:prstGeom>
          <a:solidFill>
            <a:srgbClr val="4D9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029968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80360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24263A"/>
                </a:solidFill>
                <a:latin typeface="Aptos"/>
              </a:rPr>
              <a:t>Build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337560"/>
            <a:ext cx="1965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96C82"/>
                </a:solidFill>
                <a:latin typeface="Aptos"/>
              </a:rPr>
              <a:t>User details are formatted into an AI prompt.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2176272"/>
            <a:ext cx="2011680" cy="54864"/>
          </a:xfrm>
          <a:prstGeom prst="rect">
            <a:avLst/>
          </a:prstGeom>
          <a:solidFill>
            <a:srgbClr val="E6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37960" y="1828800"/>
            <a:ext cx="777240" cy="777240"/>
          </a:xfrm>
          <a:prstGeom prst="ellipse">
            <a:avLst/>
          </a:prstGeom>
          <a:solidFill>
            <a:srgbClr val="675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029968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80360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24263A"/>
                </a:solidFill>
                <a:latin typeface="Aptos"/>
              </a:rPr>
              <a:t>OpenAI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337560"/>
            <a:ext cx="1965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96C82"/>
                </a:solidFill>
                <a:latin typeface="Aptos"/>
              </a:rPr>
              <a:t>The prompt is sent to the selected model.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0920" y="2176272"/>
            <a:ext cx="2011680" cy="54864"/>
          </a:xfrm>
          <a:prstGeom prst="rect">
            <a:avLst/>
          </a:prstGeom>
          <a:solidFill>
            <a:srgbClr val="E6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64040" y="1828800"/>
            <a:ext cx="777240" cy="777240"/>
          </a:xfrm>
          <a:prstGeom prst="ellipse">
            <a:avLst/>
          </a:prstGeom>
          <a:solidFill>
            <a:srgbClr val="4D9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40" y="2029968"/>
            <a:ext cx="777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880360"/>
            <a:ext cx="1051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24263A"/>
                </a:solidFill>
                <a:latin typeface="Aptos"/>
              </a:rPr>
              <a:t>Guidance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3337560"/>
            <a:ext cx="1965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96C82"/>
                </a:solidFill>
                <a:latin typeface="Aptos"/>
              </a:rPr>
              <a:t>The response is displayed in a clean result card.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11680" y="4754880"/>
            <a:ext cx="8138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6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176272" y="4956048"/>
            <a:ext cx="64008" cy="512064"/>
          </a:xfrm>
          <a:prstGeom prst="roundRect">
            <a:avLst/>
          </a:prstGeom>
          <a:solidFill>
            <a:srgbClr val="2B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40" y="4937760"/>
            <a:ext cx="7635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50" b="1">
                <a:solidFill>
                  <a:srgbClr val="24263A"/>
                </a:solidFill>
                <a:latin typeface="Aptos"/>
              </a:rPr>
              <a:t>🩺 Safety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5367528"/>
            <a:ext cx="763524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C82"/>
                </a:solidFill>
                <a:latin typeface="Aptos"/>
              </a:rPr>
              <a:t>The prompt instructs the model not to diagnose and to mention appropriate professional or urgent-care considerations.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96C82"/>
                </a:solidFill>
                <a:latin typeface="Aptos"/>
              </a:rPr>
              <a:t>MediGuide AI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6757F5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10896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24263A"/>
                </a:solidFill>
                <a:latin typeface="Aptos"/>
              </a:rPr>
              <a:t>UI / UX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95528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96C82"/>
                </a:solidFill>
                <a:latin typeface="Aptos"/>
              </a:rPr>
              <a:t>Designed for clarity, trust and a polished modern feel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2971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6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1527048"/>
            <a:ext cx="64008" cy="1243584"/>
          </a:xfrm>
          <a:prstGeom prst="roundRect">
            <a:avLst/>
          </a:prstGeom>
          <a:solidFill>
            <a:srgbClr val="675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50876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50" b="1">
                <a:solidFill>
                  <a:srgbClr val="24263A"/>
                </a:solidFill>
                <a:latin typeface="Aptos"/>
              </a:rPr>
              <a:t>🎨 Visual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38528"/>
            <a:ext cx="24688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C82"/>
                </a:solidFill>
                <a:latin typeface="Aptos"/>
              </a:rPr>
              <a:t>Purple-to-blue gradients, white cards, soft borders and subtle shadows.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325880"/>
            <a:ext cx="2971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6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79392" y="1527048"/>
            <a:ext cx="64008" cy="1243584"/>
          </a:xfrm>
          <a:prstGeom prst="roundRect">
            <a:avLst/>
          </a:prstGeom>
          <a:solidFill>
            <a:srgbClr val="675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50876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50" b="1">
                <a:solidFill>
                  <a:srgbClr val="24263A"/>
                </a:solidFill>
                <a:latin typeface="Aptos"/>
              </a:rPr>
              <a:t>📐 Layout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938528"/>
            <a:ext cx="24688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C82"/>
                </a:solidFill>
                <a:latin typeface="Aptos"/>
              </a:rPr>
              <a:t>Wide centered content with consistent spacing and responsive columns.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325880"/>
            <a:ext cx="2971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6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08392" y="1527048"/>
            <a:ext cx="64008" cy="1243584"/>
          </a:xfrm>
          <a:prstGeom prst="roundRect">
            <a:avLst/>
          </a:prstGeom>
          <a:solidFill>
            <a:srgbClr val="675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150876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50" b="1">
                <a:solidFill>
                  <a:srgbClr val="24263A"/>
                </a:solidFill>
                <a:latin typeface="Aptos"/>
              </a:rPr>
              <a:t>🧭 Navigation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1938528"/>
            <a:ext cx="24688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C82"/>
                </a:solidFill>
                <a:latin typeface="Aptos"/>
              </a:rPr>
              <a:t>Large step number makes the current stage obvious.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03320"/>
            <a:ext cx="2971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6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0392" y="3904487"/>
            <a:ext cx="64008" cy="1243584"/>
          </a:xfrm>
          <a:prstGeom prst="roundRect">
            <a:avLst/>
          </a:prstGeom>
          <a:solidFill>
            <a:srgbClr val="675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8862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50" b="1">
                <a:solidFill>
                  <a:srgbClr val="24263A"/>
                </a:solidFill>
                <a:latin typeface="Aptos"/>
              </a:rPr>
              <a:t>🔐 Trust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315968"/>
            <a:ext cx="24688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C82"/>
                </a:solidFill>
                <a:latin typeface="Aptos"/>
              </a:rPr>
              <a:t>Privacy notice and medical disclaimer appear at relevant points.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3703320"/>
            <a:ext cx="2971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6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79392" y="3904487"/>
            <a:ext cx="64008" cy="1243584"/>
          </a:xfrm>
          <a:prstGeom prst="roundRect">
            <a:avLst/>
          </a:prstGeom>
          <a:solidFill>
            <a:srgbClr val="675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38862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50" b="1">
                <a:solidFill>
                  <a:srgbClr val="24263A"/>
                </a:solidFill>
                <a:latin typeface="Aptos"/>
              </a:rPr>
              <a:t>⚡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315968"/>
            <a:ext cx="24688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C82"/>
                </a:solidFill>
                <a:latin typeface="Aptos"/>
              </a:rPr>
              <a:t>Primary buttons use strong contrast and clear labels.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3703320"/>
            <a:ext cx="2971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6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08392" y="3904487"/>
            <a:ext cx="64008" cy="1243584"/>
          </a:xfrm>
          <a:prstGeom prst="roundRect">
            <a:avLst/>
          </a:prstGeom>
          <a:solidFill>
            <a:srgbClr val="675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60" y="38862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50" b="1">
                <a:solidFill>
                  <a:srgbClr val="24263A"/>
                </a:solidFill>
                <a:latin typeface="Aptos"/>
              </a:rPr>
              <a:t>📱 Simplicity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4315968"/>
            <a:ext cx="24688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C82"/>
                </a:solidFill>
                <a:latin typeface="Aptos"/>
              </a:rPr>
              <a:t>Only the information needed for the current step is shown.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96C82"/>
                </a:solidFill>
                <a:latin typeface="Aptos"/>
              </a:rPr>
              <a:t>MediGuide AI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6757F5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10896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24263A"/>
                </a:solidFill>
                <a:latin typeface="Aptos"/>
              </a:rP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95528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96C82"/>
                </a:solidFill>
                <a:latin typeface="Aptos"/>
              </a:rPr>
              <a:t>Making the application accessible as a live web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200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6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1618488"/>
            <a:ext cx="64008" cy="1426464"/>
          </a:xfrm>
          <a:prstGeom prst="roundRect">
            <a:avLst/>
          </a:prstGeom>
          <a:solidFill>
            <a:srgbClr val="675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00200"/>
            <a:ext cx="2697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50" b="1">
                <a:solidFill>
                  <a:srgbClr val="24263A"/>
                </a:solidFill>
                <a:latin typeface="Aptos"/>
              </a:rPr>
              <a:t>01 —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29968"/>
            <a:ext cx="26974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C82"/>
                </a:solidFill>
                <a:latin typeface="Aptos"/>
              </a:rPr>
              <a:t>Upload app.py and requirements.txt to a repository.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417320"/>
            <a:ext cx="3200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6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45152" y="1618488"/>
            <a:ext cx="64008" cy="1426464"/>
          </a:xfrm>
          <a:prstGeom prst="roundRect">
            <a:avLst/>
          </a:prstGeom>
          <a:solidFill>
            <a:srgbClr val="4D9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600200"/>
            <a:ext cx="2697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50" b="1">
                <a:solidFill>
                  <a:srgbClr val="24263A"/>
                </a:solidFill>
                <a:latin typeface="Aptos"/>
              </a:rPr>
              <a:t>02 — Streamlit 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029968"/>
            <a:ext cx="26974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C82"/>
                </a:solidFill>
                <a:latin typeface="Aptos"/>
              </a:rPr>
              <a:t>Connect the GitHub repository and select app.py as the main file.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17320"/>
            <a:ext cx="3200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6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94192" y="1618488"/>
            <a:ext cx="64008" cy="1426464"/>
          </a:xfrm>
          <a:prstGeom prst="roundRect">
            <a:avLst/>
          </a:prstGeom>
          <a:solidFill>
            <a:srgbClr val="2B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1600200"/>
            <a:ext cx="2697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50" b="1">
                <a:solidFill>
                  <a:srgbClr val="24263A"/>
                </a:solidFill>
                <a:latin typeface="Aptos"/>
              </a:rPr>
              <a:t>03 — Deploy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029968"/>
            <a:ext cx="26974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C82"/>
                </a:solidFill>
                <a:latin typeface="Aptos"/>
              </a:rPr>
              <a:t>Streamlit installs requirements and launches the app.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3886200"/>
            <a:ext cx="7086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6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24912" y="4087368"/>
            <a:ext cx="64008" cy="1106424"/>
          </a:xfrm>
          <a:prstGeom prst="roundRect">
            <a:avLst/>
          </a:prstGeom>
          <a:solidFill>
            <a:srgbClr val="675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79" y="406908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50" b="1">
                <a:solidFill>
                  <a:srgbClr val="24263A"/>
                </a:solidFill>
                <a:latin typeface="Aptos"/>
              </a:rPr>
              <a:t>🌐 Live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79" y="4498848"/>
            <a:ext cx="658368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C82"/>
                </a:solidFill>
                <a:latin typeface="Aptos"/>
              </a:rPr>
              <a:t>A public Streamlit app URL can be shared for demonstrations and project evaluation.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96C82"/>
                </a:solidFill>
                <a:latin typeface="Aptos"/>
              </a:rPr>
              <a:t>MediGuide AI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6757F5"/>
                </a:solidFill>
                <a:latin typeface="Apto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10896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24263A"/>
                </a:solidFill>
                <a:latin typeface="Aptos"/>
              </a:rPr>
              <a:t>Security &amp; Responsible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95528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96C82"/>
                </a:solidFill>
                <a:latin typeface="Aptos"/>
              </a:rPr>
              <a:t>Important considerations for a health-related AI prototype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6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1572768"/>
            <a:ext cx="64008" cy="1426464"/>
          </a:xfrm>
          <a:prstGeom prst="roundRect">
            <a:avLst/>
          </a:prstGeom>
          <a:solidFill>
            <a:srgbClr val="675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55448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50" b="1">
                <a:solidFill>
                  <a:srgbClr val="24263A"/>
                </a:solidFill>
                <a:latin typeface="Aptos"/>
              </a:rPr>
              <a:t>🔐 API Key Handling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84248"/>
            <a:ext cx="47548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C82"/>
                </a:solidFill>
                <a:latin typeface="Aptos"/>
              </a:rPr>
              <a:t>The prototype keeps the entered API key in Streamlit session state and does not write it to a local file or database.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6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1572768"/>
            <a:ext cx="64008" cy="1426464"/>
          </a:xfrm>
          <a:prstGeom prst="roundRect">
            <a:avLst/>
          </a:prstGeom>
          <a:solidFill>
            <a:srgbClr val="2BA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5448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50" b="1">
                <a:solidFill>
                  <a:srgbClr val="24263A"/>
                </a:solidFill>
                <a:latin typeface="Aptos"/>
              </a:rPr>
              <a:t>🚫 No Diagnosis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84248"/>
            <a:ext cx="47548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C82"/>
                </a:solidFill>
                <a:latin typeface="Aptos"/>
              </a:rPr>
              <a:t>The app is positioned as educational guidance and avoids presenting model output as a medical diagnosis.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0332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6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6112" y="3904487"/>
            <a:ext cx="64008" cy="1426464"/>
          </a:xfrm>
          <a:prstGeom prst="roundRect">
            <a:avLst/>
          </a:prstGeom>
          <a:solidFill>
            <a:srgbClr val="675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88620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50" b="1">
                <a:solidFill>
                  <a:srgbClr val="24263A"/>
                </a:solidFill>
                <a:latin typeface="Aptos"/>
              </a:rPr>
              <a:t>⚠️ Production Improvement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15968"/>
            <a:ext cx="47548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C82"/>
                </a:solidFill>
                <a:latin typeface="Aptos"/>
              </a:rPr>
              <a:t>For production, use secure server-side secret management, stronger validation, monitoring and privacy controls.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703320"/>
            <a:ext cx="5257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6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3904487"/>
            <a:ext cx="64008" cy="1426464"/>
          </a:xfrm>
          <a:prstGeom prst="roundRect">
            <a:avLst/>
          </a:prstGeom>
          <a:solidFill>
            <a:srgbClr val="675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88620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50" b="1">
                <a:solidFill>
                  <a:srgbClr val="24263A"/>
                </a:solidFill>
                <a:latin typeface="Aptos"/>
              </a:rPr>
              <a:t>👩‍⚕️ Professional Care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315968"/>
            <a:ext cx="47548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C82"/>
                </a:solidFill>
                <a:latin typeface="Aptos"/>
              </a:rPr>
              <a:t>Users should contact qualified healthcare professionals when symptoms are serious, persistent or concerning.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4652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96C82"/>
                </a:solidFill>
                <a:latin typeface="Aptos"/>
              </a:rPr>
              <a:t>MediGuide AI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>
                <a:solidFill>
                  <a:srgbClr val="6757F5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700" b="1">
                <a:solidFill>
                  <a:srgbClr val="24263A"/>
                </a:solidFill>
                <a:latin typeface="Aptos"/>
              </a:rPr>
              <a:t>MediGuide AI 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696C82"/>
                </a:solidFill>
                <a:latin typeface="Aptos"/>
              </a:rPr>
              <a:t>AI-powered • Simple • Secure • Educational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3840480"/>
            <a:ext cx="6446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6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44952" y="4041648"/>
            <a:ext cx="64008" cy="832104"/>
          </a:xfrm>
          <a:prstGeom prst="roundRect">
            <a:avLst/>
          </a:prstGeom>
          <a:solidFill>
            <a:srgbClr val="4D9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402336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50" b="1">
                <a:solidFill>
                  <a:srgbClr val="24263A"/>
                </a:solidFill>
                <a:latin typeface="Aptos"/>
              </a:rPr>
              <a:t>Project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453128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6C82"/>
                </a:solidFill>
                <a:latin typeface="Aptos"/>
              </a:rPr>
              <a:t>API Key → Health Information → AI Processing → Educational Guidance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